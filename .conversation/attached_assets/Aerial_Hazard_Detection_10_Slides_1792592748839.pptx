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b224c5aa-7d40-40f6-20bd-c97bafe91b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0292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48463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9144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Aerial Location of Hazardous Atmosphere in Industries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Use drones or aircraft fitted with gas sensors to find, predict and map hazardous atmospheres inside industrial sites, so fires can be prevented and emergency teams get a clear, data-backed Fire Pre-Plan.</a:t>
            </a:r>
            <a:endParaRPr lang="en-US" sz="1300" dirty="0"/>
          </a:p>
        </p:txBody>
      </p:sp>
      <p:sp>
        <p:nvSpPr>
          <p:cNvPr id="5" name="chip-1"/>
          <p:cNvSpPr/>
          <p:nvPr/>
        </p:nvSpPr>
        <p:spPr>
          <a:xfrm>
            <a:off x="548640" y="3931920"/>
            <a:ext cx="955548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" name="chiptxt-2"/>
          <p:cNvSpPr txBox="1"/>
          <p:nvPr/>
        </p:nvSpPr>
        <p:spPr>
          <a:xfrm>
            <a:off x="548640" y="3931920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Aerial survey</a:t>
            </a:r>
            <a:endParaRPr lang="en-US" sz="900" dirty="0"/>
          </a:p>
        </p:txBody>
      </p:sp>
      <p:sp>
        <p:nvSpPr>
          <p:cNvPr id="7" name="chip-3"/>
          <p:cNvSpPr/>
          <p:nvPr/>
        </p:nvSpPr>
        <p:spPr>
          <a:xfrm>
            <a:off x="1577340" y="3931920"/>
            <a:ext cx="836676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8" name="chiptxt-4"/>
          <p:cNvSpPr txBox="1"/>
          <p:nvPr/>
        </p:nvSpPr>
        <p:spPr>
          <a:xfrm>
            <a:off x="1577340" y="3931920"/>
            <a:ext cx="83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Gas sensors</a:t>
            </a:r>
            <a:endParaRPr lang="en-US" sz="900" dirty="0"/>
          </a:p>
        </p:txBody>
      </p:sp>
      <p:sp>
        <p:nvSpPr>
          <p:cNvPr id="9" name="chip-5"/>
          <p:cNvSpPr/>
          <p:nvPr/>
        </p:nvSpPr>
        <p:spPr>
          <a:xfrm>
            <a:off x="2487168" y="3931920"/>
            <a:ext cx="955548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0" name="chiptxt-6"/>
          <p:cNvSpPr txBox="1"/>
          <p:nvPr/>
        </p:nvSpPr>
        <p:spPr>
          <a:xfrm>
            <a:off x="2487168" y="3931920"/>
            <a:ext cx="955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ML prediction</a:t>
            </a:r>
            <a:endParaRPr lang="en-US" sz="900" dirty="0"/>
          </a:p>
        </p:txBody>
      </p:sp>
      <p:sp>
        <p:nvSpPr>
          <p:cNvPr id="11" name="chip-7"/>
          <p:cNvSpPr/>
          <p:nvPr/>
        </p:nvSpPr>
        <p:spPr>
          <a:xfrm>
            <a:off x="3515868" y="3931920"/>
            <a:ext cx="836676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2" name="chiptxt-8"/>
          <p:cNvSpPr txBox="1"/>
          <p:nvPr/>
        </p:nvSpPr>
        <p:spPr>
          <a:xfrm>
            <a:off x="3515868" y="3931920"/>
            <a:ext cx="83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GIS mapping</a:t>
            </a:r>
            <a:endParaRPr lang="en-US" sz="900" dirty="0"/>
          </a:p>
        </p:txBody>
      </p:sp>
      <p:sp>
        <p:nvSpPr>
          <p:cNvPr id="13" name="chip-9"/>
          <p:cNvSpPr/>
          <p:nvPr/>
        </p:nvSpPr>
        <p:spPr>
          <a:xfrm>
            <a:off x="4425696" y="3931920"/>
            <a:ext cx="539496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4" name="chiptxt-10"/>
          <p:cNvSpPr txBox="1"/>
          <p:nvPr/>
        </p:nvSpPr>
        <p:spPr>
          <a:xfrm>
            <a:off x="4425696" y="3931920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Alerts</a:t>
            </a:r>
            <a:endParaRPr lang="en-US" sz="900" dirty="0"/>
          </a:p>
        </p:txBody>
      </p:sp>
      <p:sp>
        <p:nvSpPr>
          <p:cNvPr id="15" name="card-11"/>
          <p:cNvSpPr/>
          <p:nvPr/>
        </p:nvSpPr>
        <p:spPr>
          <a:xfrm>
            <a:off x="5760720" y="82296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badge-12"/>
          <p:cNvSpPr/>
          <p:nvPr/>
        </p:nvSpPr>
        <p:spPr>
          <a:xfrm>
            <a:off x="5897880" y="1097280"/>
            <a:ext cx="548640" cy="54864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7" name="icon-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3444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583680" y="822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Detect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Sensors read flammable and toxic gases from above.</a:t>
            </a:r>
            <a:endParaRPr lang="en-US" sz="1400" dirty="0"/>
          </a:p>
        </p:txBody>
      </p:sp>
      <p:sp>
        <p:nvSpPr>
          <p:cNvPr id="19" name="card-14"/>
          <p:cNvSpPr/>
          <p:nvPr/>
        </p:nvSpPr>
        <p:spPr>
          <a:xfrm>
            <a:off x="5760720" y="205740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badge-15"/>
          <p:cNvSpPr/>
          <p:nvPr/>
        </p:nvSpPr>
        <p:spPr>
          <a:xfrm>
            <a:off x="5897880" y="233172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1" name="icon-1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688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583680" y="20574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Predict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An ML model flags conditions that lead to fire.</a:t>
            </a:r>
            <a:endParaRPr lang="en-US" sz="1400" dirty="0"/>
          </a:p>
        </p:txBody>
      </p:sp>
      <p:sp>
        <p:nvSpPr>
          <p:cNvPr id="23" name="card-17"/>
          <p:cNvSpPr/>
          <p:nvPr/>
        </p:nvSpPr>
        <p:spPr>
          <a:xfrm>
            <a:off x="5760720" y="329184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badge-18"/>
          <p:cNvSpPr/>
          <p:nvPr/>
        </p:nvSpPr>
        <p:spPr>
          <a:xfrm>
            <a:off x="5897880" y="356616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5" name="icon-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70332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583680" y="32918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Respond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Maps, alerts and a pre-plan guide the response.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Why this problem matters</a:t>
            </a:r>
            <a:endParaRPr lang="en-US" sz="2600" dirty="0"/>
          </a:p>
        </p:txBody>
      </p:sp>
      <p:sp>
        <p:nvSpPr>
          <p:cNvPr id="3" name="card-20"/>
          <p:cNvSpPr/>
          <p:nvPr/>
        </p:nvSpPr>
        <p:spPr>
          <a:xfrm>
            <a:off x="457200" y="1188720"/>
            <a:ext cx="33832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ripe-21"/>
          <p:cNvSpPr/>
          <p:nvPr/>
        </p:nvSpPr>
        <p:spPr>
          <a:xfrm>
            <a:off x="457200" y="1298448"/>
            <a:ext cx="64008" cy="12435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tx1"/>
                </a:solidFill>
              </a:rPr>
              <a:t>~62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deaths a day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Average from fire accidents in India, 2010 to 2014 (NCRB data)</a:t>
            </a:r>
            <a:endParaRPr lang="en-US" sz="1000" dirty="0"/>
          </a:p>
        </p:txBody>
      </p:sp>
      <p:sp>
        <p:nvSpPr>
          <p:cNvPr id="8" name="card-22"/>
          <p:cNvSpPr/>
          <p:nvPr/>
        </p:nvSpPr>
        <p:spPr>
          <a:xfrm>
            <a:off x="457200" y="2788920"/>
            <a:ext cx="33832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ripe-23"/>
          <p:cNvSpPr/>
          <p:nvPr/>
        </p:nvSpPr>
        <p:spPr>
          <a:xfrm>
            <a:off x="457200" y="2898648"/>
            <a:ext cx="64008" cy="12435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880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tx1"/>
                </a:solidFill>
              </a:rPr>
              <a:t>~16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deaths a day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Fire-accident deaths in 2024: far lower, yet still avoidable (NCRB ADSI data)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34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Figures cover all fire accidents in India, not only industrial ones.</a:t>
            </a:r>
            <a:endParaRPr lang="en-US" sz="900" dirty="0"/>
          </a:p>
        </p:txBody>
      </p:sp>
      <p:sp>
        <p:nvSpPr>
          <p:cNvPr id="14" name="card-24"/>
          <p:cNvSpPr/>
          <p:nvPr/>
        </p:nvSpPr>
        <p:spPr>
          <a:xfrm>
            <a:off x="4069080" y="1188720"/>
            <a:ext cx="461772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badge-25"/>
          <p:cNvSpPr/>
          <p:nvPr/>
        </p:nvSpPr>
        <p:spPr>
          <a:xfrm>
            <a:off x="4206240" y="1362456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6" name="icon-2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540" y="1476756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800600" y="118872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Lives are at risk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Industrial fires threaten workers, responders and nearby communities.</a:t>
            </a:r>
            <a:endParaRPr lang="en-US" sz="1250" dirty="0"/>
          </a:p>
        </p:txBody>
      </p:sp>
      <p:sp>
        <p:nvSpPr>
          <p:cNvPr id="18" name="card-27"/>
          <p:cNvSpPr/>
          <p:nvPr/>
        </p:nvSpPr>
        <p:spPr>
          <a:xfrm>
            <a:off x="4069080" y="2084832"/>
            <a:ext cx="461772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-28"/>
          <p:cNvSpPr/>
          <p:nvPr/>
        </p:nvSpPr>
        <p:spPr>
          <a:xfrm>
            <a:off x="4206240" y="2258568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0" name="icon-2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237286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800600" y="2084832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Losses are heavy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Fires cause large economic losses, so action must come before an incident.</a:t>
            </a:r>
            <a:endParaRPr lang="en-US" sz="1250" dirty="0"/>
          </a:p>
        </p:txBody>
      </p:sp>
      <p:sp>
        <p:nvSpPr>
          <p:cNvPr id="22" name="card-30"/>
          <p:cNvSpPr/>
          <p:nvPr/>
        </p:nvSpPr>
        <p:spPr>
          <a:xfrm>
            <a:off x="4069080" y="2980944"/>
            <a:ext cx="461772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badge-31"/>
          <p:cNvSpPr/>
          <p:nvPr/>
        </p:nvSpPr>
        <p:spPr>
          <a:xfrm>
            <a:off x="4206240" y="315468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4" name="icon-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326898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800600" y="2980944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 Fire Pre-Plan is critical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Industries need a clear, data-backed plan that is ready before anything ignites.</a:t>
            </a:r>
            <a:endParaRPr lang="en-US" sz="1250" dirty="0"/>
          </a:p>
        </p:txBody>
      </p:sp>
      <p:sp>
        <p:nvSpPr>
          <p:cNvPr id="26" name="card-33"/>
          <p:cNvSpPr/>
          <p:nvPr/>
        </p:nvSpPr>
        <p:spPr>
          <a:xfrm>
            <a:off x="4069080" y="3877056"/>
            <a:ext cx="461772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badge-34"/>
          <p:cNvSpPr/>
          <p:nvPr/>
        </p:nvSpPr>
        <p:spPr>
          <a:xfrm>
            <a:off x="4206240" y="4050792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8" name="icon-3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4165092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800600" y="3877056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Real incidents show the urgency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 2009 IOCL Jaipur terminal fire is one example of what can go wrong.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Our solution: from sky to response</a:t>
            </a:r>
            <a:endParaRPr lang="en-US" sz="2600" dirty="0"/>
          </a:p>
        </p:txBody>
      </p:sp>
      <p:sp>
        <p:nvSpPr>
          <p:cNvPr id="3" name="card-36"/>
          <p:cNvSpPr/>
          <p:nvPr/>
        </p:nvSpPr>
        <p:spPr>
          <a:xfrm>
            <a:off x="457200" y="1188720"/>
            <a:ext cx="1280160" cy="26974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badge-37"/>
          <p:cNvSpPr/>
          <p:nvPr/>
        </p:nvSpPr>
        <p:spPr>
          <a:xfrm>
            <a:off x="822960" y="146304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6" name="icon-3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21208" y="21488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Aerial survey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517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Drones or aircraft fly over the site carrying gas sensors and cameras.</a:t>
            </a:r>
            <a:endParaRPr lang="en-US" sz="950" dirty="0"/>
          </a:p>
        </p:txBody>
      </p:sp>
      <p:sp>
        <p:nvSpPr>
          <p:cNvPr id="9" name="line-39"/>
          <p:cNvSpPr/>
          <p:nvPr/>
        </p:nvSpPr>
        <p:spPr>
          <a:xfrm>
            <a:off x="1737360" y="182880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card-40"/>
          <p:cNvSpPr/>
          <p:nvPr/>
        </p:nvSpPr>
        <p:spPr>
          <a:xfrm>
            <a:off x="1847088" y="1188720"/>
            <a:ext cx="1280160" cy="26974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938528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badge-41"/>
          <p:cNvSpPr/>
          <p:nvPr/>
        </p:nvSpPr>
        <p:spPr>
          <a:xfrm>
            <a:off x="2212848" y="146304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3" name="icon-4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6002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911096" y="21488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Sense gases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938528" y="26517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MQ-series sensors measure flammable and toxic gas levels in the air.</a:t>
            </a:r>
            <a:endParaRPr lang="en-US" sz="950" dirty="0"/>
          </a:p>
        </p:txBody>
      </p:sp>
      <p:sp>
        <p:nvSpPr>
          <p:cNvPr id="16" name="line-43"/>
          <p:cNvSpPr/>
          <p:nvPr/>
        </p:nvSpPr>
        <p:spPr>
          <a:xfrm>
            <a:off x="3127248" y="182880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card-44"/>
          <p:cNvSpPr/>
          <p:nvPr/>
        </p:nvSpPr>
        <p:spPr>
          <a:xfrm>
            <a:off x="3236976" y="1188720"/>
            <a:ext cx="1280160" cy="26974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3328416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badge-45"/>
          <p:cNvSpPr/>
          <p:nvPr/>
        </p:nvSpPr>
        <p:spPr>
          <a:xfrm>
            <a:off x="3602736" y="146304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0" name="icon-4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896" y="160020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300984" y="21488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Store data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328416" y="26517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Every reading goes into a database, building a history of the site.</a:t>
            </a:r>
            <a:endParaRPr lang="en-US" sz="950" dirty="0"/>
          </a:p>
        </p:txBody>
      </p:sp>
      <p:sp>
        <p:nvSpPr>
          <p:cNvPr id="23" name="line-47"/>
          <p:cNvSpPr/>
          <p:nvPr/>
        </p:nvSpPr>
        <p:spPr>
          <a:xfrm>
            <a:off x="4517136" y="182880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card-48"/>
          <p:cNvSpPr/>
          <p:nvPr/>
        </p:nvSpPr>
        <p:spPr>
          <a:xfrm>
            <a:off x="4626864" y="1188720"/>
            <a:ext cx="1280160" cy="26974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4718304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badge-49"/>
          <p:cNvSpPr/>
          <p:nvPr/>
        </p:nvSpPr>
        <p:spPr>
          <a:xfrm>
            <a:off x="4992624" y="146304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7" name="icon-5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784" y="160020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690872" y="21488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Predict risk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4718304" y="26517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An SVM model checks readings and flags likely fire conditions.</a:t>
            </a:r>
            <a:endParaRPr lang="en-US" sz="950" dirty="0"/>
          </a:p>
        </p:txBody>
      </p:sp>
      <p:sp>
        <p:nvSpPr>
          <p:cNvPr id="30" name="line-51"/>
          <p:cNvSpPr/>
          <p:nvPr/>
        </p:nvSpPr>
        <p:spPr>
          <a:xfrm>
            <a:off x="5907024" y="182880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card-52"/>
          <p:cNvSpPr/>
          <p:nvPr/>
        </p:nvSpPr>
        <p:spPr>
          <a:xfrm>
            <a:off x="6016752" y="1188720"/>
            <a:ext cx="1280160" cy="26974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6"/>
          <p:cNvSpPr txBox="1"/>
          <p:nvPr/>
        </p:nvSpPr>
        <p:spPr>
          <a:xfrm>
            <a:off x="6108192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badge-53"/>
          <p:cNvSpPr/>
          <p:nvPr/>
        </p:nvSpPr>
        <p:spPr>
          <a:xfrm>
            <a:off x="6382512" y="146304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4" name="icon-5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60020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080760" y="21488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Map hazards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6108192" y="26517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GIS maps colour zones by flammability, toxicity and threat.</a:t>
            </a:r>
            <a:endParaRPr lang="en-US" sz="950" dirty="0"/>
          </a:p>
        </p:txBody>
      </p:sp>
      <p:sp>
        <p:nvSpPr>
          <p:cNvPr id="37" name="line-55"/>
          <p:cNvSpPr/>
          <p:nvPr/>
        </p:nvSpPr>
        <p:spPr>
          <a:xfrm>
            <a:off x="7296912" y="1828800"/>
            <a:ext cx="10972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card-56"/>
          <p:cNvSpPr/>
          <p:nvPr/>
        </p:nvSpPr>
        <p:spPr>
          <a:xfrm>
            <a:off x="7406640" y="1188720"/>
            <a:ext cx="1280160" cy="269748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Text 32"/>
          <p:cNvSpPr txBox="1"/>
          <p:nvPr/>
        </p:nvSpPr>
        <p:spPr>
          <a:xfrm>
            <a:off x="749808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6</a:t>
            </a:r>
            <a:endParaRPr lang="en-US" sz="1100" dirty="0"/>
          </a:p>
        </p:txBody>
      </p:sp>
      <p:sp>
        <p:nvSpPr>
          <p:cNvPr id="40" name="badge-57"/>
          <p:cNvSpPr/>
          <p:nvPr/>
        </p:nvSpPr>
        <p:spPr>
          <a:xfrm>
            <a:off x="7772400" y="1463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41" name="icon-5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1600200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470648" y="21488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Alert and act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7498080" y="265176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Alert messages and a red light trigger the emergency plan.</a:t>
            </a:r>
            <a:endParaRPr lang="en-US" sz="950" dirty="0"/>
          </a:p>
        </p:txBody>
      </p:sp>
      <p:sp>
        <p:nvSpPr>
          <p:cNvPr id="44" name="result-59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Result: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live hazard-zone maps and a Fire Pre-Plan, before a spark becomes a fire.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Gas sensors and the gases they watch</a:t>
            </a:r>
            <a:endParaRPr lang="en-US" sz="2600" dirty="0"/>
          </a:p>
        </p:txBody>
      </p:sp>
      <p:sp>
        <p:nvSpPr>
          <p:cNvPr id="3" name="card-60"/>
          <p:cNvSpPr/>
          <p:nvPr/>
        </p:nvSpPr>
        <p:spPr>
          <a:xfrm>
            <a:off x="457200" y="1097280"/>
            <a:ext cx="1280160" cy="1691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sensor-61" descr="MQ-3 gas sensor mod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70432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MQ-3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30352" y="228600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Alcohol vapour (mg/L)</a:t>
            </a:r>
            <a:endParaRPr lang="en-US" sz="900" dirty="0"/>
          </a:p>
        </p:txBody>
      </p:sp>
      <p:sp>
        <p:nvSpPr>
          <p:cNvPr id="7" name="card-62"/>
          <p:cNvSpPr/>
          <p:nvPr/>
        </p:nvSpPr>
        <p:spPr>
          <a:xfrm>
            <a:off x="1847088" y="1097280"/>
            <a:ext cx="1280160" cy="1691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sensor-63" descr="MQ-4 gas sensor modu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1170432"/>
            <a:ext cx="822960" cy="822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47088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MQ-4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1920240" y="228600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Methane (ppm)</a:t>
            </a:r>
            <a:endParaRPr lang="en-US" sz="900" dirty="0"/>
          </a:p>
        </p:txBody>
      </p:sp>
      <p:sp>
        <p:nvSpPr>
          <p:cNvPr id="11" name="card-64"/>
          <p:cNvSpPr/>
          <p:nvPr/>
        </p:nvSpPr>
        <p:spPr>
          <a:xfrm>
            <a:off x="3236976" y="1097280"/>
            <a:ext cx="1280160" cy="1691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sensor-65" descr="MQ-7 gas sensor modu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175" y="1170432"/>
            <a:ext cx="1071762" cy="8229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236976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MQ-7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3310128" y="228600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Carbon monoxide (ppm)</a:t>
            </a:r>
            <a:endParaRPr lang="en-US" sz="900" dirty="0"/>
          </a:p>
        </p:txBody>
      </p:sp>
      <p:sp>
        <p:nvSpPr>
          <p:cNvPr id="15" name="card-66"/>
          <p:cNvSpPr/>
          <p:nvPr/>
        </p:nvSpPr>
        <p:spPr>
          <a:xfrm>
            <a:off x="4626864" y="1097280"/>
            <a:ext cx="1280160" cy="1691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sensor-67" descr="MQ-8 gas sensor modu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114" y="1170432"/>
            <a:ext cx="1067661" cy="8229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626864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MQ-8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4700016" y="228600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Hydrogen (ppm)</a:t>
            </a:r>
            <a:endParaRPr lang="en-US" sz="900" dirty="0"/>
          </a:p>
        </p:txBody>
      </p:sp>
      <p:sp>
        <p:nvSpPr>
          <p:cNvPr id="19" name="card-68"/>
          <p:cNvSpPr/>
          <p:nvPr/>
        </p:nvSpPr>
        <p:spPr>
          <a:xfrm>
            <a:off x="6016752" y="1097280"/>
            <a:ext cx="1280160" cy="1691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sensor-69" descr="MQ-9 gas sensor modu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170432"/>
            <a:ext cx="822960" cy="8229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016752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MQ-9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6089904" y="228600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Carbon monoxide (ppm)</a:t>
            </a:r>
            <a:endParaRPr lang="en-US" sz="900" dirty="0"/>
          </a:p>
        </p:txBody>
      </p:sp>
      <p:sp>
        <p:nvSpPr>
          <p:cNvPr id="23" name="card-70"/>
          <p:cNvSpPr/>
          <p:nvPr/>
        </p:nvSpPr>
        <p:spPr>
          <a:xfrm>
            <a:off x="7406640" y="1097280"/>
            <a:ext cx="1280160" cy="1691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sensor-71" descr="MQ-135 gas sensor modu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211184"/>
            <a:ext cx="1097280" cy="7414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406640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MQ-135</a:t>
            </a:r>
            <a:endParaRPr lang="en-US" sz="1250" dirty="0"/>
          </a:p>
        </p:txBody>
      </p:sp>
      <p:sp>
        <p:nvSpPr>
          <p:cNvPr id="26" name="Text 18"/>
          <p:cNvSpPr txBox="1"/>
          <p:nvPr/>
        </p:nvSpPr>
        <p:spPr>
          <a:xfrm>
            <a:off x="7479792" y="228600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Air quality (ppm)</a:t>
            </a:r>
            <a:endParaRPr lang="en-US" sz="900" dirty="0"/>
          </a:p>
        </p:txBody>
      </p:sp>
      <p:sp>
        <p:nvSpPr>
          <p:cNvPr id="27" name="card-72"/>
          <p:cNvSpPr/>
          <p:nvPr/>
        </p:nvSpPr>
        <p:spPr>
          <a:xfrm>
            <a:off x="457200" y="292608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card-73"/>
          <p:cNvSpPr/>
          <p:nvPr/>
        </p:nvSpPr>
        <p:spPr>
          <a:xfrm>
            <a:off x="4663440" y="292608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badge-74"/>
          <p:cNvSpPr/>
          <p:nvPr/>
        </p:nvSpPr>
        <p:spPr>
          <a:xfrm>
            <a:off x="594360" y="301752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0" name="icon-7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" y="3113532"/>
            <a:ext cx="192024" cy="19202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69848" y="3017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Flammable gases</a:t>
            </a:r>
            <a:endParaRPr lang="en-US" sz="1300" dirty="0"/>
          </a:p>
        </p:txBody>
      </p:sp>
      <p:sp>
        <p:nvSpPr>
          <p:cNvPr id="32" name="badge-76"/>
          <p:cNvSpPr/>
          <p:nvPr/>
        </p:nvSpPr>
        <p:spPr>
          <a:xfrm>
            <a:off x="4800600" y="301752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3" name="icon-7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6612" y="3113532"/>
            <a:ext cx="192024" cy="19202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276088" y="3017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Toxic gases</a:t>
            </a:r>
            <a:endParaRPr lang="en-US" sz="1300" dirty="0"/>
          </a:p>
        </p:txBody>
      </p:sp>
      <p:sp>
        <p:nvSpPr>
          <p:cNvPr id="35" name="chip-78"/>
          <p:cNvSpPr/>
          <p:nvPr/>
        </p:nvSpPr>
        <p:spPr>
          <a:xfrm>
            <a:off x="594360" y="3474720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6" name="chiptxt-79"/>
          <p:cNvSpPr txBox="1"/>
          <p:nvPr/>
        </p:nvSpPr>
        <p:spPr>
          <a:xfrm>
            <a:off x="594360" y="3474720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Hydrogen H₂</a:t>
            </a:r>
            <a:endParaRPr lang="en-US" sz="850" dirty="0"/>
          </a:p>
        </p:txBody>
      </p:sp>
      <p:sp>
        <p:nvSpPr>
          <p:cNvPr id="37" name="chip-80"/>
          <p:cNvSpPr/>
          <p:nvPr/>
        </p:nvSpPr>
        <p:spPr>
          <a:xfrm>
            <a:off x="1600200" y="3474720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8" name="chiptxt-81"/>
          <p:cNvSpPr txBox="1"/>
          <p:nvPr/>
        </p:nvSpPr>
        <p:spPr>
          <a:xfrm>
            <a:off x="1600200" y="3474720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Methane CH₄</a:t>
            </a:r>
            <a:endParaRPr lang="en-US" sz="850" dirty="0"/>
          </a:p>
        </p:txBody>
      </p:sp>
      <p:sp>
        <p:nvSpPr>
          <p:cNvPr id="39" name="chip-82"/>
          <p:cNvSpPr/>
          <p:nvPr/>
        </p:nvSpPr>
        <p:spPr>
          <a:xfrm>
            <a:off x="2606040" y="3474720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0" name="chiptxt-83"/>
          <p:cNvSpPr txBox="1"/>
          <p:nvPr/>
        </p:nvSpPr>
        <p:spPr>
          <a:xfrm>
            <a:off x="2606040" y="3474720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Ethane C₂H₆</a:t>
            </a:r>
            <a:endParaRPr lang="en-US" sz="850" dirty="0"/>
          </a:p>
        </p:txBody>
      </p:sp>
      <p:sp>
        <p:nvSpPr>
          <p:cNvPr id="41" name="chip-84"/>
          <p:cNvSpPr/>
          <p:nvPr/>
        </p:nvSpPr>
        <p:spPr>
          <a:xfrm>
            <a:off x="594360" y="3785616"/>
            <a:ext cx="996696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2" name="chiptxt-85"/>
          <p:cNvSpPr txBox="1"/>
          <p:nvPr/>
        </p:nvSpPr>
        <p:spPr>
          <a:xfrm>
            <a:off x="594360" y="3785616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Propane C₃H₈</a:t>
            </a:r>
            <a:endParaRPr lang="en-US" sz="850" dirty="0"/>
          </a:p>
        </p:txBody>
      </p:sp>
      <p:sp>
        <p:nvSpPr>
          <p:cNvPr id="43" name="chip-86"/>
          <p:cNvSpPr/>
          <p:nvPr/>
        </p:nvSpPr>
        <p:spPr>
          <a:xfrm>
            <a:off x="1664208" y="3785616"/>
            <a:ext cx="996696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4" name="chiptxt-87"/>
          <p:cNvSpPr txBox="1"/>
          <p:nvPr/>
        </p:nvSpPr>
        <p:spPr>
          <a:xfrm>
            <a:off x="1664208" y="3785616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Butane C₄H₁₀</a:t>
            </a:r>
            <a:endParaRPr lang="en-US" sz="850" dirty="0"/>
          </a:p>
        </p:txBody>
      </p:sp>
      <p:sp>
        <p:nvSpPr>
          <p:cNvPr id="45" name="chip-88"/>
          <p:cNvSpPr/>
          <p:nvPr/>
        </p:nvSpPr>
        <p:spPr>
          <a:xfrm>
            <a:off x="2734056" y="3785616"/>
            <a:ext cx="1124712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6" name="chiptxt-89"/>
          <p:cNvSpPr txBox="1"/>
          <p:nvPr/>
        </p:nvSpPr>
        <p:spPr>
          <a:xfrm>
            <a:off x="2734056" y="378561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Acetylene C₂H₂</a:t>
            </a:r>
            <a:endParaRPr lang="en-US" sz="850" dirty="0"/>
          </a:p>
        </p:txBody>
      </p:sp>
      <p:sp>
        <p:nvSpPr>
          <p:cNvPr id="47" name="chip-90"/>
          <p:cNvSpPr/>
          <p:nvPr/>
        </p:nvSpPr>
        <p:spPr>
          <a:xfrm>
            <a:off x="594360" y="4096512"/>
            <a:ext cx="1124712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8" name="chiptxt-91"/>
          <p:cNvSpPr txBox="1"/>
          <p:nvPr/>
        </p:nvSpPr>
        <p:spPr>
          <a:xfrm>
            <a:off x="594360" y="4096512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Propylene C₃H₆</a:t>
            </a:r>
            <a:endParaRPr lang="en-US" sz="850" dirty="0"/>
          </a:p>
        </p:txBody>
      </p:sp>
      <p:sp>
        <p:nvSpPr>
          <p:cNvPr id="49" name="chip-92"/>
          <p:cNvSpPr/>
          <p:nvPr/>
        </p:nvSpPr>
        <p:spPr>
          <a:xfrm>
            <a:off x="1792224" y="4096512"/>
            <a:ext cx="1124712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50" name="chiptxt-93"/>
          <p:cNvSpPr txBox="1"/>
          <p:nvPr/>
        </p:nvSpPr>
        <p:spPr>
          <a:xfrm>
            <a:off x="1792224" y="4096512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Butadiene C₄H₆</a:t>
            </a:r>
            <a:endParaRPr lang="en-US" sz="850" dirty="0"/>
          </a:p>
        </p:txBody>
      </p:sp>
      <p:sp>
        <p:nvSpPr>
          <p:cNvPr id="51" name="chip-94"/>
          <p:cNvSpPr/>
          <p:nvPr/>
        </p:nvSpPr>
        <p:spPr>
          <a:xfrm>
            <a:off x="2990088" y="4096512"/>
            <a:ext cx="1060704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52" name="chiptxt-95"/>
          <p:cNvSpPr txBox="1"/>
          <p:nvPr/>
        </p:nvSpPr>
        <p:spPr>
          <a:xfrm>
            <a:off x="2990088" y="4096512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Ethylene C₂H₄</a:t>
            </a:r>
            <a:endParaRPr lang="en-US" sz="850" dirty="0"/>
          </a:p>
        </p:txBody>
      </p:sp>
      <p:sp>
        <p:nvSpPr>
          <p:cNvPr id="53" name="chip-96"/>
          <p:cNvSpPr/>
          <p:nvPr/>
        </p:nvSpPr>
        <p:spPr>
          <a:xfrm>
            <a:off x="594360" y="4407408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54" name="chiptxt-97"/>
          <p:cNvSpPr txBox="1"/>
          <p:nvPr/>
        </p:nvSpPr>
        <p:spPr>
          <a:xfrm>
            <a:off x="594360" y="44074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Natural gas (CH₄)</a:t>
            </a:r>
            <a:endParaRPr lang="en-US" sz="850" dirty="0"/>
          </a:p>
        </p:txBody>
      </p:sp>
      <p:sp>
        <p:nvSpPr>
          <p:cNvPr id="55" name="chip-98"/>
          <p:cNvSpPr/>
          <p:nvPr/>
        </p:nvSpPr>
        <p:spPr>
          <a:xfrm>
            <a:off x="4800600" y="3474720"/>
            <a:ext cx="1380744" cy="23774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56" name="chiptxt-99"/>
          <p:cNvSpPr txBox="1"/>
          <p:nvPr/>
        </p:nvSpPr>
        <p:spPr>
          <a:xfrm>
            <a:off x="4800600" y="3474720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Carbon monoxide CO</a:t>
            </a:r>
            <a:endParaRPr lang="en-US" sz="850" dirty="0"/>
          </a:p>
        </p:txBody>
      </p:sp>
      <p:sp>
        <p:nvSpPr>
          <p:cNvPr id="57" name="chip-100"/>
          <p:cNvSpPr/>
          <p:nvPr/>
        </p:nvSpPr>
        <p:spPr>
          <a:xfrm>
            <a:off x="6254496" y="3474720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58" name="chiptxt-101"/>
          <p:cNvSpPr txBox="1"/>
          <p:nvPr/>
        </p:nvSpPr>
        <p:spPr>
          <a:xfrm>
            <a:off x="6254496" y="3474720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Ammonia NH₃</a:t>
            </a:r>
            <a:endParaRPr lang="en-US" sz="850" dirty="0"/>
          </a:p>
        </p:txBody>
      </p:sp>
      <p:sp>
        <p:nvSpPr>
          <p:cNvPr id="59" name="chip-102"/>
          <p:cNvSpPr/>
          <p:nvPr/>
        </p:nvSpPr>
        <p:spPr>
          <a:xfrm>
            <a:off x="7260336" y="3474720"/>
            <a:ext cx="996696" cy="23774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60" name="chiptxt-103"/>
          <p:cNvSpPr txBox="1"/>
          <p:nvPr/>
        </p:nvSpPr>
        <p:spPr>
          <a:xfrm>
            <a:off x="7260336" y="3474720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Chlorine Cl₂</a:t>
            </a:r>
            <a:endParaRPr lang="en-US" sz="850" dirty="0"/>
          </a:p>
        </p:txBody>
      </p:sp>
      <p:sp>
        <p:nvSpPr>
          <p:cNvPr id="61" name="chip-104"/>
          <p:cNvSpPr/>
          <p:nvPr/>
        </p:nvSpPr>
        <p:spPr>
          <a:xfrm>
            <a:off x="4800600" y="3785616"/>
            <a:ext cx="1508760" cy="23774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62" name="chiptxt-105"/>
          <p:cNvSpPr txBox="1"/>
          <p:nvPr/>
        </p:nvSpPr>
        <p:spPr>
          <a:xfrm>
            <a:off x="4800600" y="37856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Hydrogen sulfide H₂S</a:t>
            </a:r>
            <a:endParaRPr lang="en-US" sz="850" dirty="0"/>
          </a:p>
        </p:txBody>
      </p:sp>
      <p:sp>
        <p:nvSpPr>
          <p:cNvPr id="63" name="chip-106"/>
          <p:cNvSpPr/>
          <p:nvPr/>
        </p:nvSpPr>
        <p:spPr>
          <a:xfrm>
            <a:off x="6382512" y="3785616"/>
            <a:ext cx="1380744" cy="23774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64" name="chiptxt-107"/>
          <p:cNvSpPr txBox="1"/>
          <p:nvPr/>
        </p:nvSpPr>
        <p:spPr>
          <a:xfrm>
            <a:off x="6382512" y="3785616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Sulfur dioxide SO₂</a:t>
            </a:r>
            <a:endParaRPr lang="en-US" sz="850" dirty="0"/>
          </a:p>
        </p:txBody>
      </p:sp>
      <p:sp>
        <p:nvSpPr>
          <p:cNvPr id="65" name="chip-108"/>
          <p:cNvSpPr/>
          <p:nvPr/>
        </p:nvSpPr>
        <p:spPr>
          <a:xfrm>
            <a:off x="4800600" y="4096512"/>
            <a:ext cx="1508760" cy="23774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66" name="chiptxt-109"/>
          <p:cNvSpPr txBox="1"/>
          <p:nvPr/>
        </p:nvSpPr>
        <p:spPr>
          <a:xfrm>
            <a:off x="4800600" y="409651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Nitrogen dioxide NO₂</a:t>
            </a:r>
            <a:endParaRPr lang="en-US" sz="850" dirty="0"/>
          </a:p>
        </p:txBody>
      </p:sp>
      <p:sp>
        <p:nvSpPr>
          <p:cNvPr id="67" name="chip-110"/>
          <p:cNvSpPr/>
          <p:nvPr/>
        </p:nvSpPr>
        <p:spPr>
          <a:xfrm>
            <a:off x="6382512" y="4096512"/>
            <a:ext cx="1124712" cy="23774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68" name="chiptxt-111"/>
          <p:cNvSpPr txBox="1"/>
          <p:nvPr/>
        </p:nvSpPr>
        <p:spPr>
          <a:xfrm>
            <a:off x="6382512" y="4096512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Phosgene COCl₂</a:t>
            </a:r>
            <a:endParaRPr lang="en-US" sz="850" dirty="0"/>
          </a:p>
        </p:txBody>
      </p:sp>
      <p:sp>
        <p:nvSpPr>
          <p:cNvPr id="69" name="chip-112"/>
          <p:cNvSpPr/>
          <p:nvPr/>
        </p:nvSpPr>
        <p:spPr>
          <a:xfrm>
            <a:off x="4800600" y="4407408"/>
            <a:ext cx="1508760" cy="23774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70" name="chiptxt-113"/>
          <p:cNvSpPr txBox="1"/>
          <p:nvPr/>
        </p:nvSpPr>
        <p:spPr>
          <a:xfrm>
            <a:off x="4800600" y="44074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Hydrogen cyanide HCN</a:t>
            </a:r>
            <a:endParaRPr lang="en-US" sz="850" dirty="0"/>
          </a:p>
        </p:txBody>
      </p:sp>
      <p:sp>
        <p:nvSpPr>
          <p:cNvPr id="71" name="chip-114"/>
          <p:cNvSpPr/>
          <p:nvPr/>
        </p:nvSpPr>
        <p:spPr>
          <a:xfrm>
            <a:off x="6382512" y="4407408"/>
            <a:ext cx="740664" cy="23774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72" name="chiptxt-115"/>
          <p:cNvSpPr txBox="1"/>
          <p:nvPr/>
        </p:nvSpPr>
        <p:spPr>
          <a:xfrm>
            <a:off x="6382512" y="4407408"/>
            <a:ext cx="74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Ozone O₃</a:t>
            </a:r>
            <a:endParaRPr lang="en-US" sz="850" dirty="0"/>
          </a:p>
        </p:txBody>
      </p:sp>
      <p:sp>
        <p:nvSpPr>
          <p:cNvPr id="73" name="chip-116"/>
          <p:cNvSpPr/>
          <p:nvPr/>
        </p:nvSpPr>
        <p:spPr>
          <a:xfrm>
            <a:off x="7196328" y="4407408"/>
            <a:ext cx="1316736" cy="23774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74" name="chiptxt-117"/>
          <p:cNvSpPr txBox="1"/>
          <p:nvPr/>
        </p:nvSpPr>
        <p:spPr>
          <a:xfrm>
            <a:off x="7196328" y="4407408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Formaldehyde CH₂O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Fire prediction model</a:t>
            </a:r>
            <a:endParaRPr lang="en-US" sz="2600" dirty="0"/>
          </a:p>
        </p:txBody>
      </p:sp>
      <p:sp>
        <p:nvSpPr>
          <p:cNvPr id="3" name="card-118"/>
          <p:cNvSpPr/>
          <p:nvPr/>
        </p:nvSpPr>
        <p:spPr>
          <a:xfrm>
            <a:off x="457200" y="1143000"/>
            <a:ext cx="5486400" cy="356616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ode-119"/>
          <p:cNvSpPr/>
          <p:nvPr/>
        </p:nvSpPr>
        <p:spPr>
          <a:xfrm>
            <a:off x="640080" y="1783080"/>
            <a:ext cx="1325880" cy="822960"/>
          </a:xfrm>
          <a:prstGeom prst="roundRect">
            <a:avLst>
              <a:gd name="adj" fmla="val 7778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3258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Sensor readings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MQ-3, 4, 7, 8, 9, 135</a:t>
            </a:r>
            <a:endParaRPr lang="en-US" sz="1100" dirty="0"/>
          </a:p>
        </p:txBody>
      </p:sp>
      <p:sp>
        <p:nvSpPr>
          <p:cNvPr id="6" name="node-120"/>
          <p:cNvSpPr/>
          <p:nvPr/>
        </p:nvSpPr>
        <p:spPr>
          <a:xfrm>
            <a:off x="2331720" y="1783080"/>
            <a:ext cx="1143000" cy="822960"/>
          </a:xfrm>
          <a:prstGeom prst="roundRect">
            <a:avLst>
              <a:gd name="adj" fmla="val 7778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31720" y="1783080"/>
            <a:ext cx="11430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Stores every reading</a:t>
            </a:r>
            <a:endParaRPr lang="en-US" sz="1100" dirty="0"/>
          </a:p>
        </p:txBody>
      </p:sp>
      <p:sp>
        <p:nvSpPr>
          <p:cNvPr id="8" name="decision-121"/>
          <p:cNvSpPr/>
          <p:nvPr/>
        </p:nvSpPr>
        <p:spPr>
          <a:xfrm>
            <a:off x="3840480" y="1554480"/>
            <a:ext cx="1920240" cy="128016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40480" y="155448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SVM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Fire risk?</a:t>
            </a:r>
            <a:endParaRPr lang="en-US" sz="1100" dirty="0"/>
          </a:p>
        </p:txBody>
      </p:sp>
      <p:sp>
        <p:nvSpPr>
          <p:cNvPr id="10" name="line-122"/>
          <p:cNvSpPr/>
          <p:nvPr/>
        </p:nvSpPr>
        <p:spPr>
          <a:xfrm>
            <a:off x="1965960" y="219456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line-123"/>
          <p:cNvSpPr/>
          <p:nvPr/>
        </p:nvSpPr>
        <p:spPr>
          <a:xfrm>
            <a:off x="3474720" y="219456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line-124"/>
          <p:cNvSpPr/>
          <p:nvPr/>
        </p:nvSpPr>
        <p:spPr>
          <a:xfrm flipV="1">
            <a:off x="4800600" y="1325880"/>
            <a:ext cx="0" cy="22860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3" name="line-125"/>
          <p:cNvSpPr/>
          <p:nvPr/>
        </p:nvSpPr>
        <p:spPr>
          <a:xfrm flipH="1">
            <a:off x="2898648" y="1325880"/>
            <a:ext cx="1901952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4" name="line-126"/>
          <p:cNvSpPr/>
          <p:nvPr/>
        </p:nvSpPr>
        <p:spPr>
          <a:xfrm>
            <a:off x="2898648" y="1325880"/>
            <a:ext cx="0" cy="45720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108960" y="1097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No: keep monitoring</a:t>
            </a:r>
            <a:endParaRPr lang="en-US" sz="900" dirty="0"/>
          </a:p>
        </p:txBody>
      </p:sp>
      <p:sp>
        <p:nvSpPr>
          <p:cNvPr id="16" name="line-127"/>
          <p:cNvSpPr/>
          <p:nvPr/>
        </p:nvSpPr>
        <p:spPr>
          <a:xfrm>
            <a:off x="4800600" y="2834640"/>
            <a:ext cx="0" cy="41148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892040" y="2926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Yes</a:t>
            </a:r>
            <a:endParaRPr lang="en-US" sz="900" dirty="0"/>
          </a:p>
        </p:txBody>
      </p:sp>
      <p:sp>
        <p:nvSpPr>
          <p:cNvPr id="18" name="node-128"/>
          <p:cNvSpPr/>
          <p:nvPr/>
        </p:nvSpPr>
        <p:spPr>
          <a:xfrm>
            <a:off x="3108960" y="3291840"/>
            <a:ext cx="1645920" cy="731520"/>
          </a:xfrm>
          <a:prstGeom prst="roundRect">
            <a:avLst>
              <a:gd name="adj" fmla="val 8750"/>
            </a:avLst>
          </a:prstGeom>
          <a:solidFill>
            <a:srgbClr val="EF44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08960" y="3291840"/>
            <a:ext cx="1645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Fire alert message</a:t>
            </a:r>
            <a:endParaRPr lang="en-US" sz="1100" dirty="0"/>
          </a:p>
        </p:txBody>
      </p:sp>
      <p:sp>
        <p:nvSpPr>
          <p:cNvPr id="20" name="node-129"/>
          <p:cNvSpPr/>
          <p:nvPr/>
        </p:nvSpPr>
        <p:spPr>
          <a:xfrm>
            <a:off x="4846320" y="3291840"/>
            <a:ext cx="914400" cy="731520"/>
          </a:xfrm>
          <a:prstGeom prst="roundRect">
            <a:avLst>
              <a:gd name="adj" fmla="val 8750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3291840"/>
            <a:ext cx="914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Red light 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Readings keep flowing in; the model decides whether to raise the alarm.</a:t>
            </a:r>
            <a:endParaRPr lang="en-US" sz="1000" dirty="0"/>
          </a:p>
        </p:txBody>
      </p:sp>
      <p:sp>
        <p:nvSpPr>
          <p:cNvPr id="23" name="card-130"/>
          <p:cNvSpPr/>
          <p:nvPr/>
        </p:nvSpPr>
        <p:spPr>
          <a:xfrm>
            <a:off x="6126480" y="1143000"/>
            <a:ext cx="2560320" cy="35661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0936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Sample reading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1673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MQ-3 Alcohol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16733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25.18 mg/L</a:t>
            </a:r>
            <a:endParaRPr lang="en-US" sz="1050" dirty="0"/>
          </a:p>
        </p:txBody>
      </p:sp>
      <p:sp>
        <p:nvSpPr>
          <p:cNvPr id="27" name="rule-131"/>
          <p:cNvSpPr/>
          <p:nvPr/>
        </p:nvSpPr>
        <p:spPr>
          <a:xfrm>
            <a:off x="6309360" y="2103120"/>
            <a:ext cx="2194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21305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MQ-4 Methane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21305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300.01 ppm</a:t>
            </a:r>
            <a:endParaRPr lang="en-US" sz="1050" dirty="0"/>
          </a:p>
        </p:txBody>
      </p:sp>
      <p:sp>
        <p:nvSpPr>
          <p:cNvPr id="30" name="rule-132"/>
          <p:cNvSpPr/>
          <p:nvPr/>
        </p:nvSpPr>
        <p:spPr>
          <a:xfrm>
            <a:off x="6309360" y="2560320"/>
            <a:ext cx="2194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25877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MQ-7 CO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25877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25.10 ppm</a:t>
            </a:r>
            <a:endParaRPr lang="en-US" sz="1050" dirty="0"/>
          </a:p>
        </p:txBody>
      </p:sp>
      <p:sp>
        <p:nvSpPr>
          <p:cNvPr id="33" name="rule-133"/>
          <p:cNvSpPr/>
          <p:nvPr/>
        </p:nvSpPr>
        <p:spPr>
          <a:xfrm>
            <a:off x="6309360" y="3017520"/>
            <a:ext cx="2194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09360" y="30449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MQ-8 Hydrogen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406640" y="30449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210.00 ppm</a:t>
            </a:r>
            <a:endParaRPr lang="en-US" sz="1050" dirty="0"/>
          </a:p>
        </p:txBody>
      </p:sp>
      <p:sp>
        <p:nvSpPr>
          <p:cNvPr id="36" name="rule-134"/>
          <p:cNvSpPr/>
          <p:nvPr/>
        </p:nvSpPr>
        <p:spPr>
          <a:xfrm>
            <a:off x="6309360" y="3474720"/>
            <a:ext cx="2194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9360" y="35021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MQ-9 CO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406640" y="35021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205.67 ppm</a:t>
            </a:r>
            <a:endParaRPr lang="en-US" sz="1050" dirty="0"/>
          </a:p>
        </p:txBody>
      </p:sp>
      <p:sp>
        <p:nvSpPr>
          <p:cNvPr id="39" name="rule-135"/>
          <p:cNvSpPr/>
          <p:nvPr/>
        </p:nvSpPr>
        <p:spPr>
          <a:xfrm>
            <a:off x="6309360" y="3931920"/>
            <a:ext cx="2194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9360" y="3959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MQ-135 Air quality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406640" y="39593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300.80 ppm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Hazard mapping and historical data</a:t>
            </a:r>
            <a:endParaRPr lang="en-US" sz="2600" dirty="0"/>
          </a:p>
        </p:txBody>
      </p:sp>
      <p:sp>
        <p:nvSpPr>
          <p:cNvPr id="3" name="card-136"/>
          <p:cNvSpPr/>
          <p:nvPr/>
        </p:nvSpPr>
        <p:spPr>
          <a:xfrm>
            <a:off x="457200" y="1097280"/>
            <a:ext cx="50292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ard-137"/>
          <p:cNvSpPr/>
          <p:nvPr/>
        </p:nvSpPr>
        <p:spPr>
          <a:xfrm>
            <a:off x="5669280" y="1097280"/>
            <a:ext cx="301752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ard-138"/>
          <p:cNvSpPr/>
          <p:nvPr/>
        </p:nvSpPr>
        <p:spPr>
          <a:xfrm>
            <a:off x="5669280" y="2971800"/>
            <a:ext cx="301752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map-screenshot" descr="Hazard map screenshot with place name, temperature and gas level ca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0688"/>
            <a:ext cx="4846320" cy="204832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3649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Live hazard map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39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Shows place, temperature and a card for every gas level, so teams see where to look first.</a:t>
            </a:r>
            <a:endParaRPr lang="en-US" sz="1000" dirty="0"/>
          </a:p>
        </p:txBody>
      </p:sp>
      <p:sp>
        <p:nvSpPr>
          <p:cNvPr id="9" name="chip-139"/>
          <p:cNvSpPr/>
          <p:nvPr/>
        </p:nvSpPr>
        <p:spPr>
          <a:xfrm>
            <a:off x="640080" y="4160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/>
        </p:spPr>
      </p:sp>
      <p:sp>
        <p:nvSpPr>
          <p:cNvPr id="10" name="chiptxt-140"/>
          <p:cNvSpPr txBox="1"/>
          <p:nvPr/>
        </p:nvSpPr>
        <p:spPr>
          <a:xfrm>
            <a:off x="64008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Leaflet map API</a:t>
            </a:r>
            <a:endParaRPr lang="en-US" sz="900" dirty="0"/>
          </a:p>
        </p:txBody>
      </p:sp>
      <p:sp>
        <p:nvSpPr>
          <p:cNvPr id="11" name="chip-141"/>
          <p:cNvSpPr/>
          <p:nvPr/>
        </p:nvSpPr>
        <p:spPr>
          <a:xfrm>
            <a:off x="1920240" y="41605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2" name="chiptxt-142"/>
          <p:cNvSpPr txBox="1"/>
          <p:nvPr/>
        </p:nvSpPr>
        <p:spPr>
          <a:xfrm>
            <a:off x="192024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+ Weather API</a:t>
            </a:r>
            <a:endParaRPr lang="en-US" sz="900" dirty="0"/>
          </a:p>
        </p:txBody>
      </p:sp>
      <p:sp>
        <p:nvSpPr>
          <p:cNvPr id="13" name="chip-143"/>
          <p:cNvSpPr/>
          <p:nvPr/>
        </p:nvSpPr>
        <p:spPr>
          <a:xfrm>
            <a:off x="3200400" y="416052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4" name="chiptxt-144"/>
          <p:cNvSpPr txBox="1"/>
          <p:nvPr/>
        </p:nvSpPr>
        <p:spPr>
          <a:xfrm>
            <a:off x="320040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= Hazardous mapping</a:t>
            </a:r>
            <a:endParaRPr lang="en-US" sz="900" dirty="0"/>
          </a:p>
        </p:txBody>
      </p:sp>
      <p:pic>
        <p:nvPicPr>
          <p:cNvPr id="15" name="history-table" descr="Table of stored gas sensor measure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081" y="1170432"/>
            <a:ext cx="2213919" cy="11430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80644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Stored readings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every value saved</a:t>
            </a:r>
            <a:endParaRPr lang="en-US" sz="1050" dirty="0"/>
          </a:p>
        </p:txBody>
      </p:sp>
      <p:pic>
        <p:nvPicPr>
          <p:cNvPr id="17" name="history-charts" descr="Histograms of readings for each MQ sens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307" y="3044952"/>
            <a:ext cx="2223465" cy="11430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06440" y="4297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Histograms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normal range, rare spikes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People, planning and alerts</a:t>
            </a:r>
            <a:endParaRPr lang="en-US" sz="2600" dirty="0"/>
          </a:p>
        </p:txBody>
      </p:sp>
      <p:sp>
        <p:nvSpPr>
          <p:cNvPr id="3" name="card-145"/>
          <p:cNvSpPr/>
          <p:nvPr/>
        </p:nvSpPr>
        <p:spPr>
          <a:xfrm>
            <a:off x="457200" y="1097280"/>
            <a:ext cx="2651760" cy="361188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-146"/>
          <p:cNvSpPr/>
          <p:nvPr/>
        </p:nvSpPr>
        <p:spPr>
          <a:xfrm>
            <a:off x="1417320" y="118872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5" name="icon-1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Training and awareness</a:t>
            </a:r>
            <a:endParaRPr lang="en-US" sz="1400" dirty="0"/>
          </a:p>
        </p:txBody>
      </p:sp>
      <p:sp>
        <p:nvSpPr>
          <p:cNvPr id="7" name="dot-148"/>
          <p:cNvSpPr/>
          <p:nvPr/>
        </p:nvSpPr>
        <p:spPr>
          <a:xfrm>
            <a:off x="640080" y="2670048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6060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Online risk training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Learn to spot and prevent fire hazards</a:t>
            </a:r>
            <a:endParaRPr lang="en-US" sz="1050" dirty="0"/>
          </a:p>
        </p:txBody>
      </p:sp>
      <p:sp>
        <p:nvSpPr>
          <p:cNvPr id="9" name="dot-149"/>
          <p:cNvSpPr/>
          <p:nvPr/>
        </p:nvSpPr>
        <p:spPr>
          <a:xfrm>
            <a:off x="640080" y="3200400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248" y="31363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Watch the equipment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Check status often to catch faults early</a:t>
            </a:r>
            <a:endParaRPr lang="en-US" sz="1050" dirty="0"/>
          </a:p>
        </p:txBody>
      </p:sp>
      <p:sp>
        <p:nvSpPr>
          <p:cNvPr id="11" name="dot-150"/>
          <p:cNvSpPr/>
          <p:nvPr/>
        </p:nvSpPr>
        <p:spPr>
          <a:xfrm>
            <a:off x="640080" y="3730752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" y="366674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No careless smoking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Remove a simple ignition source</a:t>
            </a:r>
            <a:endParaRPr lang="en-US" sz="1050" dirty="0"/>
          </a:p>
        </p:txBody>
      </p:sp>
      <p:sp>
        <p:nvSpPr>
          <p:cNvPr id="13" name="dot-151"/>
          <p:cNvSpPr/>
          <p:nvPr/>
        </p:nvSpPr>
        <p:spPr>
          <a:xfrm>
            <a:off x="640080" y="426110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1248" y="419709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Know the extinguisher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Everyone knows where it is and how to use it</a:t>
            </a:r>
            <a:endParaRPr lang="en-US" sz="1050" dirty="0"/>
          </a:p>
        </p:txBody>
      </p:sp>
      <p:sp>
        <p:nvSpPr>
          <p:cNvPr id="15" name="card-152"/>
          <p:cNvSpPr/>
          <p:nvPr/>
        </p:nvSpPr>
        <p:spPr>
          <a:xfrm>
            <a:off x="3246120" y="1097280"/>
            <a:ext cx="2651760" cy="361188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emergency-illustration" descr="Emergency response illust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170432"/>
            <a:ext cx="1158240" cy="8686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337560" y="2103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Emergency plan</a:t>
            </a:r>
            <a:endParaRPr lang="en-US" sz="1400" dirty="0"/>
          </a:p>
        </p:txBody>
      </p:sp>
      <p:sp>
        <p:nvSpPr>
          <p:cNvPr id="18" name="dot-153"/>
          <p:cNvSpPr/>
          <p:nvPr/>
        </p:nvSpPr>
        <p:spPr>
          <a:xfrm>
            <a:off x="3429000" y="267004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630168" y="26060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Know where to go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Learn the nearest exits and safe spots</a:t>
            </a:r>
            <a:endParaRPr lang="en-US" sz="1050" dirty="0"/>
          </a:p>
        </p:txBody>
      </p:sp>
      <p:sp>
        <p:nvSpPr>
          <p:cNvPr id="20" name="dot-154"/>
          <p:cNvSpPr/>
          <p:nvPr/>
        </p:nvSpPr>
        <p:spPr>
          <a:xfrm>
            <a:off x="3429000" y="335584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630168" y="32918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Stay connected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Share contacts, pick a meeting place</a:t>
            </a:r>
            <a:endParaRPr lang="en-US" sz="1050" dirty="0"/>
          </a:p>
        </p:txBody>
      </p:sp>
      <p:sp>
        <p:nvSpPr>
          <p:cNvPr id="22" name="dot-155"/>
          <p:cNvSpPr/>
          <p:nvPr/>
        </p:nvSpPr>
        <p:spPr>
          <a:xfrm>
            <a:off x="3429000" y="4041648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3630168" y="39776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Pack the basics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Small kit with water, snacks, supplies</a:t>
            </a:r>
            <a:endParaRPr lang="en-US" sz="1050" dirty="0"/>
          </a:p>
        </p:txBody>
      </p:sp>
      <p:sp>
        <p:nvSpPr>
          <p:cNvPr id="24" name="card-156"/>
          <p:cNvSpPr/>
          <p:nvPr/>
        </p:nvSpPr>
        <p:spPr>
          <a:xfrm>
            <a:off x="6035040" y="1097280"/>
            <a:ext cx="2651760" cy="361188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badge-157"/>
          <p:cNvSpPr/>
          <p:nvPr/>
        </p:nvSpPr>
        <p:spPr>
          <a:xfrm>
            <a:off x="6995160" y="1188720"/>
            <a:ext cx="731520" cy="7315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26" name="icon-15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7160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126480" y="2103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Smart notifications</a:t>
            </a:r>
            <a:endParaRPr lang="en-US" sz="1400" dirty="0"/>
          </a:p>
        </p:txBody>
      </p:sp>
      <p:sp>
        <p:nvSpPr>
          <p:cNvPr id="28" name="dot-159"/>
          <p:cNvSpPr/>
          <p:nvPr/>
        </p:nvSpPr>
        <p:spPr>
          <a:xfrm>
            <a:off x="6217920" y="2670048"/>
            <a:ext cx="109728" cy="109728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419088" y="26060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Quick info, quick action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Readable at a glance, easy to act on</a:t>
            </a:r>
            <a:endParaRPr lang="en-US" sz="1050" dirty="0"/>
          </a:p>
        </p:txBody>
      </p:sp>
      <p:sp>
        <p:nvSpPr>
          <p:cNvPr id="30" name="dot-160"/>
          <p:cNvSpPr/>
          <p:nvPr/>
        </p:nvSpPr>
        <p:spPr>
          <a:xfrm>
            <a:off x="6217920" y="3355848"/>
            <a:ext cx="109728" cy="109728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419088" y="32918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Sounds and signs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Meaningful and noticed right away</a:t>
            </a:r>
            <a:endParaRPr lang="en-US" sz="1050" dirty="0"/>
          </a:p>
        </p:txBody>
      </p:sp>
      <p:sp>
        <p:nvSpPr>
          <p:cNvPr id="32" name="dot-161"/>
          <p:cNvSpPr/>
          <p:nvPr/>
        </p:nvSpPr>
        <p:spPr>
          <a:xfrm>
            <a:off x="6217920" y="4041648"/>
            <a:ext cx="109728" cy="109728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6419088" y="39776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You are in control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Choose which alerts you receive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Feature scope</a:t>
            </a:r>
            <a:endParaRPr lang="en-US" sz="2600" dirty="0"/>
          </a:p>
        </p:txBody>
      </p:sp>
      <p:sp>
        <p:nvSpPr>
          <p:cNvPr id="3" name="card-162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-16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5" name="icon-16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Automated machinery shutdown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Equipment in a danger zone can be switched off automatically when gas levels turn unsafe.</a:t>
            </a:r>
            <a:endParaRPr lang="en-US" sz="1050" dirty="0"/>
          </a:p>
        </p:txBody>
      </p:sp>
      <p:sp>
        <p:nvSpPr>
          <p:cNvPr id="8" name="card-165"/>
          <p:cNvSpPr/>
          <p:nvPr/>
        </p:nvSpPr>
        <p:spPr>
          <a:xfrm>
            <a:off x="324612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-166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0" name="icon-16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Smart sprinkler system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Sprinklers are driven by the fire prediction, so water starts before flames spread.</a:t>
            </a:r>
            <a:endParaRPr lang="en-US" sz="1050" dirty="0"/>
          </a:p>
        </p:txBody>
      </p:sp>
      <p:sp>
        <p:nvSpPr>
          <p:cNvPr id="13" name="card-168"/>
          <p:cNvSpPr/>
          <p:nvPr/>
        </p:nvSpPr>
        <p:spPr>
          <a:xfrm>
            <a:off x="603504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-169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5" name="icon-17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Visual indicators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Clear lights and on-screen signs show the hazard level at a glance.</a:t>
            </a:r>
            <a:endParaRPr lang="en-US" sz="1050" dirty="0"/>
          </a:p>
        </p:txBody>
      </p:sp>
      <p:sp>
        <p:nvSpPr>
          <p:cNvPr id="18" name="card-171"/>
          <p:cNvSpPr/>
          <p:nvPr/>
        </p:nvSpPr>
        <p:spPr>
          <a:xfrm>
            <a:off x="45720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-172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0" name="icon-17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6898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Real-time communication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Control room, field staff and responders share the same live picture.</a:t>
            </a:r>
            <a:endParaRPr lang="en-US" sz="1050" dirty="0"/>
          </a:p>
        </p:txBody>
      </p:sp>
      <p:sp>
        <p:nvSpPr>
          <p:cNvPr id="23" name="card-174"/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badge-175"/>
          <p:cNvSpPr/>
          <p:nvPr/>
        </p:nvSpPr>
        <p:spPr>
          <a:xfrm>
            <a:off x="3429000" y="315468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5" name="icon-17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326898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Mobile alert integration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Alerts reach phones, so people are warned wherever they are on site.</a:t>
            </a:r>
            <a:endParaRPr lang="en-US" sz="1050" dirty="0"/>
          </a:p>
        </p:txBody>
      </p:sp>
      <p:sp>
        <p:nvSpPr>
          <p:cNvPr id="28" name="card-177"/>
          <p:cNvSpPr/>
          <p:nvPr/>
        </p:nvSpPr>
        <p:spPr>
          <a:xfrm>
            <a:off x="603504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badge-178"/>
          <p:cNvSpPr/>
          <p:nvPr/>
        </p:nvSpPr>
        <p:spPr>
          <a:xfrm>
            <a:off x="6217920" y="315468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0" name="icon-17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26898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3154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Continuous alerts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Alerts repeat until someone acknowledges them, so none are missed.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3" name="card-180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-181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5" name="icon-1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6761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53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Sensing</a:t>
            </a:r>
            <a:endParaRPr lang="en-US" sz="1350" dirty="0"/>
          </a:p>
        </p:txBody>
      </p:sp>
      <p:sp>
        <p:nvSpPr>
          <p:cNvPr id="7" name="chip-183"/>
          <p:cNvSpPr/>
          <p:nvPr/>
        </p:nvSpPr>
        <p:spPr>
          <a:xfrm>
            <a:off x="640080" y="2011680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8" name="chiptxt-184"/>
          <p:cNvSpPr txBox="1"/>
          <p:nvPr/>
        </p:nvSpPr>
        <p:spPr>
          <a:xfrm>
            <a:off x="640080" y="2011680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MQ-3</a:t>
            </a:r>
            <a:endParaRPr lang="en-US" sz="900" dirty="0"/>
          </a:p>
        </p:txBody>
      </p:sp>
      <p:sp>
        <p:nvSpPr>
          <p:cNvPr id="9" name="chip-185"/>
          <p:cNvSpPr/>
          <p:nvPr/>
        </p:nvSpPr>
        <p:spPr>
          <a:xfrm>
            <a:off x="1197864" y="2011680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0" name="chiptxt-186"/>
          <p:cNvSpPr txBox="1"/>
          <p:nvPr/>
        </p:nvSpPr>
        <p:spPr>
          <a:xfrm>
            <a:off x="1197864" y="2011680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MQ-4</a:t>
            </a:r>
            <a:endParaRPr lang="en-US" sz="900" dirty="0"/>
          </a:p>
        </p:txBody>
      </p:sp>
      <p:sp>
        <p:nvSpPr>
          <p:cNvPr id="11" name="chip-187"/>
          <p:cNvSpPr/>
          <p:nvPr/>
        </p:nvSpPr>
        <p:spPr>
          <a:xfrm>
            <a:off x="1755648" y="2011680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2" name="chiptxt-188"/>
          <p:cNvSpPr txBox="1"/>
          <p:nvPr/>
        </p:nvSpPr>
        <p:spPr>
          <a:xfrm>
            <a:off x="1755648" y="2011680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MQ-7</a:t>
            </a:r>
            <a:endParaRPr lang="en-US" sz="900" dirty="0"/>
          </a:p>
        </p:txBody>
      </p:sp>
      <p:sp>
        <p:nvSpPr>
          <p:cNvPr id="13" name="chip-189"/>
          <p:cNvSpPr/>
          <p:nvPr/>
        </p:nvSpPr>
        <p:spPr>
          <a:xfrm>
            <a:off x="2313432" y="2011680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4" name="chiptxt-190"/>
          <p:cNvSpPr txBox="1"/>
          <p:nvPr/>
        </p:nvSpPr>
        <p:spPr>
          <a:xfrm>
            <a:off x="2313432" y="2011680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MQ-8</a:t>
            </a:r>
            <a:endParaRPr lang="en-US" sz="900" dirty="0"/>
          </a:p>
        </p:txBody>
      </p:sp>
      <p:sp>
        <p:nvSpPr>
          <p:cNvPr id="15" name="chip-191"/>
          <p:cNvSpPr/>
          <p:nvPr/>
        </p:nvSpPr>
        <p:spPr>
          <a:xfrm>
            <a:off x="640080" y="2340864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6" name="chiptxt-192"/>
          <p:cNvSpPr txBox="1"/>
          <p:nvPr/>
        </p:nvSpPr>
        <p:spPr>
          <a:xfrm>
            <a:off x="640080" y="2340864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MQ-9</a:t>
            </a:r>
            <a:endParaRPr lang="en-US" sz="900" dirty="0"/>
          </a:p>
        </p:txBody>
      </p:sp>
      <p:sp>
        <p:nvSpPr>
          <p:cNvPr id="17" name="chip-193"/>
          <p:cNvSpPr/>
          <p:nvPr/>
        </p:nvSpPr>
        <p:spPr>
          <a:xfrm>
            <a:off x="1197864" y="2340864"/>
            <a:ext cx="612648" cy="25603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8" name="chiptxt-194"/>
          <p:cNvSpPr txBox="1"/>
          <p:nvPr/>
        </p:nvSpPr>
        <p:spPr>
          <a:xfrm>
            <a:off x="1197864" y="2340864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MQ-135</a:t>
            </a:r>
            <a:endParaRPr lang="en-US" sz="900" dirty="0"/>
          </a:p>
        </p:txBody>
      </p:sp>
      <p:sp>
        <p:nvSpPr>
          <p:cNvPr id="19" name="card-195"/>
          <p:cNvSpPr/>
          <p:nvPr/>
        </p:nvSpPr>
        <p:spPr>
          <a:xfrm>
            <a:off x="324612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badge-196"/>
          <p:cNvSpPr/>
          <p:nvPr/>
        </p:nvSpPr>
        <p:spPr>
          <a:xfrm>
            <a:off x="3429000" y="1353312"/>
            <a:ext cx="457200" cy="4572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21" name="icon-19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467612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023360" y="1353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Machine learning</a:t>
            </a:r>
            <a:endParaRPr lang="en-US" sz="1350" dirty="0"/>
          </a:p>
        </p:txBody>
      </p:sp>
      <p:sp>
        <p:nvSpPr>
          <p:cNvPr id="23" name="chip-198"/>
          <p:cNvSpPr/>
          <p:nvPr/>
        </p:nvSpPr>
        <p:spPr>
          <a:xfrm>
            <a:off x="3429000" y="2011680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/>
        </p:spPr>
      </p:sp>
      <p:sp>
        <p:nvSpPr>
          <p:cNvPr id="24" name="chiptxt-199"/>
          <p:cNvSpPr txBox="1"/>
          <p:nvPr/>
        </p:nvSpPr>
        <p:spPr>
          <a:xfrm>
            <a:off x="3429000" y="201168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SVM</a:t>
            </a:r>
            <a:endParaRPr lang="en-US" sz="900" dirty="0"/>
          </a:p>
        </p:txBody>
      </p:sp>
      <p:sp>
        <p:nvSpPr>
          <p:cNvPr id="25" name="chip-200"/>
          <p:cNvSpPr/>
          <p:nvPr/>
        </p:nvSpPr>
        <p:spPr>
          <a:xfrm>
            <a:off x="3922776" y="201168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/>
        </p:spPr>
      </p:sp>
      <p:sp>
        <p:nvSpPr>
          <p:cNvPr id="26" name="chiptxt-201"/>
          <p:cNvSpPr txBox="1"/>
          <p:nvPr/>
        </p:nvSpPr>
        <p:spPr>
          <a:xfrm>
            <a:off x="3922776" y="2011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NumPy</a:t>
            </a:r>
            <a:endParaRPr lang="en-US" sz="900" dirty="0"/>
          </a:p>
        </p:txBody>
      </p:sp>
      <p:sp>
        <p:nvSpPr>
          <p:cNvPr id="27" name="chip-202"/>
          <p:cNvSpPr/>
          <p:nvPr/>
        </p:nvSpPr>
        <p:spPr>
          <a:xfrm>
            <a:off x="4544568" y="201168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/>
        </p:spPr>
      </p:sp>
      <p:sp>
        <p:nvSpPr>
          <p:cNvPr id="28" name="chiptxt-203"/>
          <p:cNvSpPr txBox="1"/>
          <p:nvPr/>
        </p:nvSpPr>
        <p:spPr>
          <a:xfrm>
            <a:off x="4544568" y="20116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TensorFlow</a:t>
            </a:r>
            <a:endParaRPr lang="en-US" sz="900" dirty="0"/>
          </a:p>
        </p:txBody>
      </p:sp>
      <p:sp>
        <p:nvSpPr>
          <p:cNvPr id="29" name="chip-204"/>
          <p:cNvSpPr/>
          <p:nvPr/>
        </p:nvSpPr>
        <p:spPr>
          <a:xfrm>
            <a:off x="3429000" y="2340864"/>
            <a:ext cx="612648" cy="256032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/>
        </p:spPr>
      </p:sp>
      <p:sp>
        <p:nvSpPr>
          <p:cNvPr id="30" name="chiptxt-205"/>
          <p:cNvSpPr txBox="1"/>
          <p:nvPr/>
        </p:nvSpPr>
        <p:spPr>
          <a:xfrm>
            <a:off x="3429000" y="2340864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OpenCV</a:t>
            </a:r>
            <a:endParaRPr lang="en-US" sz="900" dirty="0"/>
          </a:p>
        </p:txBody>
      </p:sp>
      <p:sp>
        <p:nvSpPr>
          <p:cNvPr id="31" name="chip-206"/>
          <p:cNvSpPr/>
          <p:nvPr/>
        </p:nvSpPr>
        <p:spPr>
          <a:xfrm>
            <a:off x="4114800" y="2340864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/>
        </p:spPr>
      </p:sp>
      <p:sp>
        <p:nvSpPr>
          <p:cNvPr id="32" name="chiptxt-207"/>
          <p:cNvSpPr txBox="1"/>
          <p:nvPr/>
        </p:nvSpPr>
        <p:spPr>
          <a:xfrm>
            <a:off x="4114800" y="23408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MathWorks</a:t>
            </a:r>
            <a:endParaRPr lang="en-US" sz="900" dirty="0"/>
          </a:p>
        </p:txBody>
      </p:sp>
      <p:sp>
        <p:nvSpPr>
          <p:cNvPr id="33" name="card-208"/>
          <p:cNvSpPr/>
          <p:nvPr/>
        </p:nvSpPr>
        <p:spPr>
          <a:xfrm>
            <a:off x="603504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badge-209"/>
          <p:cNvSpPr/>
          <p:nvPr/>
        </p:nvSpPr>
        <p:spPr>
          <a:xfrm>
            <a:off x="6217920" y="135331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5" name="icon-2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467612"/>
            <a:ext cx="228600" cy="22860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812280" y="1353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Back end</a:t>
            </a:r>
            <a:endParaRPr lang="en-US" sz="1350" dirty="0"/>
          </a:p>
        </p:txBody>
      </p:sp>
      <p:sp>
        <p:nvSpPr>
          <p:cNvPr id="37" name="chip-211"/>
          <p:cNvSpPr/>
          <p:nvPr/>
        </p:nvSpPr>
        <p:spPr>
          <a:xfrm>
            <a:off x="6217920" y="2011680"/>
            <a:ext cx="612648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8" name="chiptxt-212"/>
          <p:cNvSpPr txBox="1"/>
          <p:nvPr/>
        </p:nvSpPr>
        <p:spPr>
          <a:xfrm>
            <a:off x="6217920" y="2011680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Python</a:t>
            </a:r>
            <a:endParaRPr lang="en-US" sz="900" dirty="0"/>
          </a:p>
        </p:txBody>
      </p:sp>
      <p:sp>
        <p:nvSpPr>
          <p:cNvPr id="39" name="chip-213"/>
          <p:cNvSpPr/>
          <p:nvPr/>
        </p:nvSpPr>
        <p:spPr>
          <a:xfrm>
            <a:off x="6903720" y="2011680"/>
            <a:ext cx="676656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0" name="chiptxt-214"/>
          <p:cNvSpPr txBox="1"/>
          <p:nvPr/>
        </p:nvSpPr>
        <p:spPr>
          <a:xfrm>
            <a:off x="6903720" y="201168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Node.js</a:t>
            </a:r>
            <a:endParaRPr lang="en-US" sz="900" dirty="0"/>
          </a:p>
        </p:txBody>
      </p:sp>
      <p:sp>
        <p:nvSpPr>
          <p:cNvPr id="41" name="chip-215"/>
          <p:cNvSpPr/>
          <p:nvPr/>
        </p:nvSpPr>
        <p:spPr>
          <a:xfrm>
            <a:off x="7653528" y="201168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2" name="chiptxt-216"/>
          <p:cNvSpPr txBox="1"/>
          <p:nvPr/>
        </p:nvSpPr>
        <p:spPr>
          <a:xfrm>
            <a:off x="7653528" y="2011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Flask</a:t>
            </a:r>
            <a:endParaRPr lang="en-US" sz="900" dirty="0"/>
          </a:p>
        </p:txBody>
      </p:sp>
      <p:sp>
        <p:nvSpPr>
          <p:cNvPr id="43" name="chip-217"/>
          <p:cNvSpPr/>
          <p:nvPr/>
        </p:nvSpPr>
        <p:spPr>
          <a:xfrm>
            <a:off x="6217920" y="2340864"/>
            <a:ext cx="612648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4" name="chiptxt-218"/>
          <p:cNvSpPr txBox="1"/>
          <p:nvPr/>
        </p:nvSpPr>
        <p:spPr>
          <a:xfrm>
            <a:off x="6217920" y="2340864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Django</a:t>
            </a:r>
            <a:endParaRPr lang="en-US" sz="900" dirty="0"/>
          </a:p>
        </p:txBody>
      </p:sp>
      <p:sp>
        <p:nvSpPr>
          <p:cNvPr id="45" name="chip-219"/>
          <p:cNvSpPr/>
          <p:nvPr/>
        </p:nvSpPr>
        <p:spPr>
          <a:xfrm>
            <a:off x="6903720" y="2340864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46" name="chiptxt-220"/>
          <p:cNvSpPr txBox="1"/>
          <p:nvPr/>
        </p:nvSpPr>
        <p:spPr>
          <a:xfrm>
            <a:off x="6903720" y="234086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PHP</a:t>
            </a:r>
            <a:endParaRPr lang="en-US" sz="900" dirty="0"/>
          </a:p>
        </p:txBody>
      </p:sp>
      <p:sp>
        <p:nvSpPr>
          <p:cNvPr id="47" name="card-221"/>
          <p:cNvSpPr/>
          <p:nvPr/>
        </p:nvSpPr>
        <p:spPr>
          <a:xfrm>
            <a:off x="45720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badge-222"/>
          <p:cNvSpPr/>
          <p:nvPr/>
        </p:nvSpPr>
        <p:spPr>
          <a:xfrm>
            <a:off x="640080" y="3136392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49" name="icon-22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50692"/>
            <a:ext cx="228600" cy="228600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1234440" y="31363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Front end</a:t>
            </a:r>
            <a:endParaRPr lang="en-US" sz="1350" dirty="0"/>
          </a:p>
        </p:txBody>
      </p:sp>
      <p:sp>
        <p:nvSpPr>
          <p:cNvPr id="51" name="chip-224"/>
          <p:cNvSpPr/>
          <p:nvPr/>
        </p:nvSpPr>
        <p:spPr>
          <a:xfrm>
            <a:off x="640080" y="3794760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52" name="chiptxt-225"/>
          <p:cNvSpPr txBox="1"/>
          <p:nvPr/>
        </p:nvSpPr>
        <p:spPr>
          <a:xfrm>
            <a:off x="640080" y="3794760"/>
            <a:ext cx="484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HTML</a:t>
            </a:r>
            <a:endParaRPr lang="en-US" sz="900" dirty="0"/>
          </a:p>
        </p:txBody>
      </p:sp>
      <p:sp>
        <p:nvSpPr>
          <p:cNvPr id="53" name="chip-226"/>
          <p:cNvSpPr/>
          <p:nvPr/>
        </p:nvSpPr>
        <p:spPr>
          <a:xfrm>
            <a:off x="1197864" y="3794760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54" name="chiptxt-227"/>
          <p:cNvSpPr txBox="1"/>
          <p:nvPr/>
        </p:nvSpPr>
        <p:spPr>
          <a:xfrm>
            <a:off x="1197864" y="3794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CSS</a:t>
            </a:r>
            <a:endParaRPr lang="en-US" sz="900" dirty="0"/>
          </a:p>
        </p:txBody>
      </p:sp>
      <p:sp>
        <p:nvSpPr>
          <p:cNvPr id="55" name="chip-228"/>
          <p:cNvSpPr/>
          <p:nvPr/>
        </p:nvSpPr>
        <p:spPr>
          <a:xfrm>
            <a:off x="1691640" y="379476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56" name="chiptxt-229"/>
          <p:cNvSpPr txBox="1"/>
          <p:nvPr/>
        </p:nvSpPr>
        <p:spPr>
          <a:xfrm>
            <a:off x="1691640" y="3794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JavaScript</a:t>
            </a:r>
            <a:endParaRPr lang="en-US" sz="900" dirty="0"/>
          </a:p>
        </p:txBody>
      </p:sp>
      <p:sp>
        <p:nvSpPr>
          <p:cNvPr id="57" name="chip-230"/>
          <p:cNvSpPr/>
          <p:nvPr/>
        </p:nvSpPr>
        <p:spPr>
          <a:xfrm>
            <a:off x="640080" y="4123944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58" name="chiptxt-231"/>
          <p:cNvSpPr txBox="1"/>
          <p:nvPr/>
        </p:nvSpPr>
        <p:spPr>
          <a:xfrm>
            <a:off x="640080" y="412394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Bootstrap</a:t>
            </a:r>
            <a:endParaRPr lang="en-US" sz="900" dirty="0"/>
          </a:p>
        </p:txBody>
      </p:sp>
      <p:sp>
        <p:nvSpPr>
          <p:cNvPr id="59" name="chip-232"/>
          <p:cNvSpPr/>
          <p:nvPr/>
        </p:nvSpPr>
        <p:spPr>
          <a:xfrm>
            <a:off x="1517904" y="412394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60" name="chiptxt-233"/>
          <p:cNvSpPr txBox="1"/>
          <p:nvPr/>
        </p:nvSpPr>
        <p:spPr>
          <a:xfrm>
            <a:off x="1517904" y="41239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D3.js</a:t>
            </a:r>
            <a:endParaRPr lang="en-US" sz="900" dirty="0"/>
          </a:p>
        </p:txBody>
      </p:sp>
      <p:sp>
        <p:nvSpPr>
          <p:cNvPr id="61" name="card-234"/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2" name="badge-235"/>
          <p:cNvSpPr/>
          <p:nvPr/>
        </p:nvSpPr>
        <p:spPr>
          <a:xfrm>
            <a:off x="3429000" y="3136392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63" name="icon-23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3250692"/>
            <a:ext cx="228600" cy="228600"/>
          </a:xfrm>
          <a:prstGeom prst="rect">
            <a:avLst/>
          </a:prstGeom>
        </p:spPr>
      </p:pic>
      <p:sp>
        <p:nvSpPr>
          <p:cNvPr id="64" name="Text 57"/>
          <p:cNvSpPr txBox="1"/>
          <p:nvPr/>
        </p:nvSpPr>
        <p:spPr>
          <a:xfrm>
            <a:off x="4023360" y="31363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Data</a:t>
            </a:r>
            <a:endParaRPr lang="en-US" sz="1350" dirty="0"/>
          </a:p>
        </p:txBody>
      </p:sp>
      <p:sp>
        <p:nvSpPr>
          <p:cNvPr id="65" name="chip-237"/>
          <p:cNvSpPr/>
          <p:nvPr/>
        </p:nvSpPr>
        <p:spPr>
          <a:xfrm>
            <a:off x="3429000" y="379476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66" name="chiptxt-238"/>
          <p:cNvSpPr txBox="1"/>
          <p:nvPr/>
        </p:nvSpPr>
        <p:spPr>
          <a:xfrm>
            <a:off x="3429000" y="3794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PostgreSQL</a:t>
            </a:r>
            <a:endParaRPr lang="en-US" sz="900" dirty="0"/>
          </a:p>
        </p:txBody>
      </p:sp>
      <p:sp>
        <p:nvSpPr>
          <p:cNvPr id="67" name="card-239"/>
          <p:cNvSpPr/>
          <p:nvPr/>
        </p:nvSpPr>
        <p:spPr>
          <a:xfrm>
            <a:off x="603504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8" name="badge-240"/>
          <p:cNvSpPr/>
          <p:nvPr/>
        </p:nvSpPr>
        <p:spPr>
          <a:xfrm>
            <a:off x="6217920" y="313639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69" name="icon-24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250692"/>
            <a:ext cx="228600" cy="228600"/>
          </a:xfrm>
          <a:prstGeom prst="rect">
            <a:avLst/>
          </a:prstGeom>
        </p:spPr>
      </p:pic>
      <p:sp>
        <p:nvSpPr>
          <p:cNvPr id="70" name="Text 62"/>
          <p:cNvSpPr txBox="1"/>
          <p:nvPr/>
        </p:nvSpPr>
        <p:spPr>
          <a:xfrm>
            <a:off x="6812280" y="31363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Maps and weather</a:t>
            </a:r>
            <a:endParaRPr lang="en-US" sz="1350" dirty="0"/>
          </a:p>
        </p:txBody>
      </p:sp>
      <p:sp>
        <p:nvSpPr>
          <p:cNvPr id="71" name="chip-242"/>
          <p:cNvSpPr/>
          <p:nvPr/>
        </p:nvSpPr>
        <p:spPr>
          <a:xfrm>
            <a:off x="6217920" y="379476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72" name="chiptxt-243"/>
          <p:cNvSpPr txBox="1"/>
          <p:nvPr/>
        </p:nvSpPr>
        <p:spPr>
          <a:xfrm>
            <a:off x="6217920" y="37947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Leaflet API</a:t>
            </a:r>
            <a:endParaRPr lang="en-US" sz="900" dirty="0"/>
          </a:p>
        </p:txBody>
      </p:sp>
      <p:sp>
        <p:nvSpPr>
          <p:cNvPr id="73" name="chip-244"/>
          <p:cNvSpPr/>
          <p:nvPr/>
        </p:nvSpPr>
        <p:spPr>
          <a:xfrm>
            <a:off x="7223760" y="379476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74" name="chiptxt-245"/>
          <p:cNvSpPr txBox="1"/>
          <p:nvPr/>
        </p:nvSpPr>
        <p:spPr>
          <a:xfrm>
            <a:off x="7223760" y="37947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Weather API</a:t>
            </a:r>
            <a:endParaRPr lang="en-US" sz="900" dirty="0"/>
          </a:p>
        </p:txBody>
      </p:sp>
      <p:sp>
        <p:nvSpPr>
          <p:cNvPr id="75" name="chip-246"/>
          <p:cNvSpPr/>
          <p:nvPr/>
        </p:nvSpPr>
        <p:spPr>
          <a:xfrm>
            <a:off x="6217920" y="4123944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76" name="chiptxt-247"/>
          <p:cNvSpPr txBox="1"/>
          <p:nvPr/>
        </p:nvSpPr>
        <p:spPr>
          <a:xfrm>
            <a:off x="6217920" y="412394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GIS mapping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Where it helps, and what to manage</a:t>
            </a:r>
            <a:endParaRPr lang="en-US" sz="2600" dirty="0"/>
          </a:p>
        </p:txBody>
      </p:sp>
      <p:sp>
        <p:nvSpPr>
          <p:cNvPr id="3" name="card-248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USE CASES</a:t>
            </a:r>
            <a:endParaRPr lang="en-US" sz="1000" dirty="0"/>
          </a:p>
        </p:txBody>
      </p:sp>
      <p:sp>
        <p:nvSpPr>
          <p:cNvPr id="5" name="uc-249"/>
          <p:cNvSpPr/>
          <p:nvPr/>
        </p:nvSpPr>
        <p:spPr>
          <a:xfrm>
            <a:off x="640080" y="1645920"/>
            <a:ext cx="178308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4592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Industrial safety</a:t>
            </a:r>
            <a:endParaRPr lang="en-US" sz="1050" dirty="0"/>
          </a:p>
        </p:txBody>
      </p:sp>
      <p:sp>
        <p:nvSpPr>
          <p:cNvPr id="7" name="uc-250"/>
          <p:cNvSpPr/>
          <p:nvPr/>
        </p:nvSpPr>
        <p:spPr>
          <a:xfrm>
            <a:off x="2514600" y="1645920"/>
            <a:ext cx="178308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87752" y="164592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Emergency response</a:t>
            </a:r>
            <a:endParaRPr lang="en-US" sz="1050" dirty="0"/>
          </a:p>
        </p:txBody>
      </p:sp>
      <p:sp>
        <p:nvSpPr>
          <p:cNvPr id="9" name="uc-251"/>
          <p:cNvSpPr/>
          <p:nvPr/>
        </p:nvSpPr>
        <p:spPr>
          <a:xfrm>
            <a:off x="640080" y="2395728"/>
            <a:ext cx="178308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39572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Environmental protection</a:t>
            </a:r>
            <a:endParaRPr lang="en-US" sz="1050" dirty="0"/>
          </a:p>
        </p:txBody>
      </p:sp>
      <p:sp>
        <p:nvSpPr>
          <p:cNvPr id="11" name="uc-252"/>
          <p:cNvSpPr/>
          <p:nvPr/>
        </p:nvSpPr>
        <p:spPr>
          <a:xfrm>
            <a:off x="2514600" y="2395728"/>
            <a:ext cx="178308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87752" y="239572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Regulatory compliance</a:t>
            </a:r>
            <a:endParaRPr lang="en-US" sz="1050" dirty="0"/>
          </a:p>
        </p:txBody>
      </p:sp>
      <p:sp>
        <p:nvSpPr>
          <p:cNvPr id="13" name="uc-253"/>
          <p:cNvSpPr/>
          <p:nvPr/>
        </p:nvSpPr>
        <p:spPr>
          <a:xfrm>
            <a:off x="640080" y="3145536"/>
            <a:ext cx="178308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314553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Preventive maintenance</a:t>
            </a:r>
            <a:endParaRPr lang="en-US" sz="1050" dirty="0"/>
          </a:p>
        </p:txBody>
      </p:sp>
      <p:sp>
        <p:nvSpPr>
          <p:cNvPr id="15" name="uc-254"/>
          <p:cNvSpPr/>
          <p:nvPr/>
        </p:nvSpPr>
        <p:spPr>
          <a:xfrm>
            <a:off x="2514600" y="3145536"/>
            <a:ext cx="178308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587752" y="314553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Urban planning</a:t>
            </a:r>
            <a:endParaRPr lang="en-US" sz="1050" dirty="0"/>
          </a:p>
        </p:txBody>
      </p:sp>
      <p:sp>
        <p:nvSpPr>
          <p:cNvPr id="17" name="uc-255"/>
          <p:cNvSpPr/>
          <p:nvPr/>
        </p:nvSpPr>
        <p:spPr>
          <a:xfrm>
            <a:off x="640080" y="3895344"/>
            <a:ext cx="178308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389534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Insurance assessment</a:t>
            </a:r>
            <a:endParaRPr lang="en-US" sz="1050" dirty="0"/>
          </a:p>
        </p:txBody>
      </p:sp>
      <p:sp>
        <p:nvSpPr>
          <p:cNvPr id="19" name="uc-256"/>
          <p:cNvSpPr/>
          <p:nvPr/>
        </p:nvSpPr>
        <p:spPr>
          <a:xfrm>
            <a:off x="2514600" y="3895344"/>
            <a:ext cx="178308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587752" y="389534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Environmental studies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CHALLENGES TO MANAGE</a:t>
            </a:r>
            <a:endParaRPr lang="en-US" sz="1000" dirty="0"/>
          </a:p>
        </p:txBody>
      </p:sp>
      <p:sp>
        <p:nvSpPr>
          <p:cNvPr id="22" name="card-257"/>
          <p:cNvSpPr/>
          <p:nvPr/>
        </p:nvSpPr>
        <p:spPr>
          <a:xfrm>
            <a:off x="4663440" y="137160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badge-258"/>
          <p:cNvSpPr/>
          <p:nvPr/>
        </p:nvSpPr>
        <p:spPr>
          <a:xfrm>
            <a:off x="4800600" y="15087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4" name="icon-2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900" y="1623060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394960" y="1371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Data accuracy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Precise readings are needed for a trustworthy risk assessment.</a:t>
            </a:r>
            <a:endParaRPr lang="en-US" sz="1200" dirty="0"/>
          </a:p>
        </p:txBody>
      </p:sp>
      <p:sp>
        <p:nvSpPr>
          <p:cNvPr id="26" name="card-260"/>
          <p:cNvSpPr/>
          <p:nvPr/>
        </p:nvSpPr>
        <p:spPr>
          <a:xfrm>
            <a:off x="4663440" y="219456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badge-261"/>
          <p:cNvSpPr/>
          <p:nvPr/>
        </p:nvSpPr>
        <p:spPr>
          <a:xfrm>
            <a:off x="4800600" y="233172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8" name="icon-2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446020"/>
            <a:ext cx="228600" cy="22860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394960" y="2194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Equipment reliability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Aerial equipment must work without interruption.</a:t>
            </a:r>
            <a:endParaRPr lang="en-US" sz="1200" dirty="0"/>
          </a:p>
        </p:txBody>
      </p:sp>
      <p:sp>
        <p:nvSpPr>
          <p:cNvPr id="30" name="card-263"/>
          <p:cNvSpPr/>
          <p:nvPr/>
        </p:nvSpPr>
        <p:spPr>
          <a:xfrm>
            <a:off x="4663440" y="301752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badge-264"/>
          <p:cNvSpPr/>
          <p:nvPr/>
        </p:nvSpPr>
        <p:spPr>
          <a:xfrm>
            <a:off x="4800600" y="31546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2" name="icon-26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3268980"/>
            <a:ext cx="228600" cy="22860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3949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Privacy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Surveys must respect regulations and people’s privacy.</a:t>
            </a:r>
            <a:endParaRPr lang="en-US" sz="1200" dirty="0"/>
          </a:p>
        </p:txBody>
      </p:sp>
      <p:sp>
        <p:nvSpPr>
          <p:cNvPr id="34" name="card-266"/>
          <p:cNvSpPr/>
          <p:nvPr/>
        </p:nvSpPr>
        <p:spPr>
          <a:xfrm>
            <a:off x="4663440" y="384048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badge-267"/>
          <p:cNvSpPr/>
          <p:nvPr/>
        </p:nvSpPr>
        <p:spPr>
          <a:xfrm>
            <a:off x="4800600" y="39776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6" name="icon-26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4091940"/>
            <a:ext cx="228600" cy="2286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539496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Data security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Collected data must be protected from unauthorised access.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zard Deck">
  <a:themeElements>
    <a:clrScheme name="Hazard Deck">
      <a:dk1>
        <a:srgbClr val="0F172A"/>
      </a:dk1>
      <a:lt1>
        <a:srgbClr val="FFFFFF"/>
      </a:lt1>
      <a:dk2>
        <a:srgbClr val="1E293B"/>
      </a:dk2>
      <a:lt2>
        <a:srgbClr val="F4F6F9"/>
      </a:lt2>
      <a:accent1>
        <a:srgbClr val="F97316"/>
      </a:accent1>
      <a:accent2>
        <a:srgbClr val="0EA5A4"/>
      </a:accent2>
      <a:accent3>
        <a:srgbClr val="EF4444"/>
      </a:accent3>
      <a:accent4>
        <a:srgbClr val="22C55E"/>
      </a:accent4>
      <a:accent5>
        <a:srgbClr val="3B82F6"/>
      </a:accent5>
      <a:accent6>
        <a:srgbClr val="64748B"/>
      </a:accent6>
      <a:hlink>
        <a:srgbClr val="3B82F6"/>
      </a:hlink>
      <a:folHlink>
        <a:srgbClr val="64748B"/>
      </a:folHlink>
    </a:clrScheme>
    <a:fontScheme name="Hazard De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Aerial Location of Hazardous Atmosphere in Industries</dc:title>
  <dc:subject>PptxGenJS Presentation</dc:subject>
  <dc:creator>PptxGenJS</dc:creator>
  <cp:lastModifiedBy>PptxGenJS</cp:lastModifiedBy>
  <cp:revision>1</cp:revision>
  <dcterms:created xsi:type="dcterms:W3CDTF">2026-10-19T17:18:00Z</dcterms:created>
  <dcterms:modified xsi:type="dcterms:W3CDTF">2026-10-19T17:18:00Z</dcterms:modified>
</cp:coreProperties>
</file>